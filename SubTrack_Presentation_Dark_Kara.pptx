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7200"/>
            <a:ext cx="12191695" cy="50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D3EE"/>
                </a:solidFill>
                <a:latin typeface="Calibri"/>
              </a:defRPr>
            </a:pPr>
            <a:r>
              <a:t>◆ SUBTRACK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Track every</a:t>
            </a:r>
            <a:br/>
            <a:r>
              <a:t>subscription.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175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D4BF"/>
                </a:solidFill>
                <a:latin typeface="Calibri"/>
              </a:defRPr>
            </a:pPr>
            <a:r>
              <a:t>Abonnements • Paiements • Reports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Calibri"/>
              </a:defRPr>
            </a:pPr>
            <a:r>
              <a:t>Java OOP  •  Console App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572000"/>
            <a:ext cx="2926080" cy="822960"/>
          </a:xfrm>
          <a:prstGeom prst="roundRect">
            <a:avLst/>
          </a:prstGeom>
          <a:solidFill>
            <a:srgbClr val="16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617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Presented by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892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Kara Oussama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47091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BBF24"/>
                </a:solidFill>
                <a:latin typeface="Calibri"/>
              </a:defRPr>
            </a:pPr>
            <a:r>
              <a:t>JAVA  •  2026</a:t>
            </a:r>
          </a:p>
        </p:txBody>
      </p:sp>
      <p:pic>
        <p:nvPicPr>
          <p:cNvPr id="12" name="Picture 11" descr="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457200"/>
            <a:ext cx="5120640" cy="5943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247120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CA3AF"/>
                </a:solidFill>
                <a:latin typeface="Calibri"/>
              </a:defRPr>
            </a:pPr>
            <a:r>
              <a:t>01 / 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7200"/>
            <a:ext cx="12191695" cy="50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2D3EE"/>
                </a:solidFill>
                <a:latin typeface="Calibri"/>
              </a:defRPr>
            </a:pPr>
            <a:r>
              <a:t>02 —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What is SubTrack?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Calibri"/>
              </a:defRPr>
            </a:pPr>
            <a:r>
              <a:t>Manage subscriptions + auto payments + reports. No more missed échéances.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86000"/>
            <a:ext cx="3291840" cy="3291840"/>
          </a:xfrm>
          <a:prstGeom prst="roundRect">
            <a:avLst/>
          </a:prstGeom>
          <a:solidFill>
            <a:srgbClr val="16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5603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22D3EE"/>
                </a:solidFill>
                <a:latin typeface="Calibri"/>
              </a:defRPr>
            </a:pPr>
            <a:r>
              <a:t>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2004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Subscriptions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749039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Calibri"/>
              </a:defRPr>
            </a:pPr>
            <a:r>
              <a:t>Create • List • Update • Delete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2286000"/>
            <a:ext cx="3291840" cy="3291840"/>
          </a:xfrm>
          <a:prstGeom prst="roundRect">
            <a:avLst/>
          </a:prstGeom>
          <a:solidFill>
            <a:srgbClr val="16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5603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22D3EE"/>
                </a:solidFill>
                <a:latin typeface="Calibri"/>
              </a:defRPr>
            </a:pPr>
            <a:r>
              <a:t>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2004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Payments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749039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Calibri"/>
              </a:defRPr>
            </a:pPr>
            <a:r>
              <a:t>Auto échéances • Pay CARD/CASH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2286000"/>
            <a:ext cx="3291840" cy="3291840"/>
          </a:xfrm>
          <a:prstGeom prst="roundRect">
            <a:avLst/>
          </a:prstGeom>
          <a:solidFill>
            <a:srgbClr val="16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39" y="25603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22D3EE"/>
                </a:solidFill>
                <a:latin typeface="Calibri"/>
              </a:defRPr>
            </a:pPr>
            <a:r>
              <a:t>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39" y="32004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Reports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39" y="3749039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Calibri"/>
              </a:defRPr>
            </a:pPr>
            <a:r>
              <a:t>Unpaid • Monthly • Yearly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CA3AF"/>
                </a:solidFill>
                <a:latin typeface="Calibri"/>
              </a:defRPr>
            </a:pPr>
            <a:r>
              <a:t>02 / 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7200"/>
            <a:ext cx="12191695" cy="50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BBF24"/>
                </a:solidFill>
                <a:latin typeface="Calibri"/>
              </a:defRPr>
            </a:pPr>
            <a:r>
              <a:t>03 — TWO 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Avec vs Sans engagement.</a:t>
            </a:r>
          </a:p>
        </p:txBody>
      </p:sp>
      <p:pic>
        <p:nvPicPr>
          <p:cNvPr id="6" name="Picture 5" descr="sub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457200"/>
            <a:ext cx="4754880" cy="59436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2011680"/>
            <a:ext cx="5577840" cy="1737360"/>
          </a:xfrm>
          <a:prstGeom prst="roundRect">
            <a:avLst/>
          </a:prstGeom>
          <a:solidFill>
            <a:srgbClr val="16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D3EE"/>
                </a:solidFill>
                <a:latin typeface="Calibri"/>
              </a:defRPr>
            </a:pPr>
            <a:r>
              <a:t>🔒  Avec Engagement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432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alibri"/>
              </a:defRPr>
            </a:pPr>
            <a:r>
              <a:t>Ex: Netflix 12.99€ / 6 mois</a:t>
            </a:r>
          </a:p>
          <a:p>
            <a:pPr>
              <a:spcAft>
                <a:spcPts val="400"/>
              </a:spcAft>
              <a:defRPr sz="1200" b="0">
                <a:solidFill>
                  <a:srgbClr val="9CA3AF"/>
                </a:solidFill>
                <a:latin typeface="Calibri"/>
              </a:defRPr>
            </a:pPr>
            <a:r>
              <a:t>duréeEngagementMois • impayés suivis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023360"/>
            <a:ext cx="5577840" cy="1737360"/>
          </a:xfrm>
          <a:prstGeom prst="roundRect">
            <a:avLst/>
          </a:prstGeom>
          <a:solidFill>
            <a:srgbClr val="16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2062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D4BF"/>
                </a:solidFill>
                <a:latin typeface="Calibri"/>
              </a:defRPr>
            </a:pPr>
            <a:r>
              <a:t>🔓  Sans Engagement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75488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alibri"/>
              </a:defRPr>
            </a:pPr>
            <a:r>
              <a:t>Ex: Spotify 9.99€ • flexible</a:t>
            </a:r>
          </a:p>
          <a:p>
            <a:pPr>
              <a:spcAft>
                <a:spcPts val="400"/>
              </a:spcAft>
              <a:defRPr sz="1200" b="0">
                <a:solidFill>
                  <a:srgbClr val="9CA3AF"/>
                </a:solidFill>
                <a:latin typeface="Calibri"/>
              </a:defRPr>
            </a:pPr>
            <a:r>
              <a:t>Create • Résilier anytime, history kept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CA3AF"/>
                </a:solidFill>
                <a:latin typeface="Calibri"/>
              </a:defRPr>
            </a:pPr>
            <a:r>
              <a:t>03 / 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7200"/>
            <a:ext cx="12191695" cy="50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2D3EE"/>
                </a:solidFill>
                <a:latin typeface="Calibri"/>
              </a:defRPr>
            </a:pPr>
            <a:r>
              <a:t>04 — GESTION ABONNEMENTS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Full CRUD. Simple menu.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2651760" cy="2011680"/>
          </a:xfrm>
          <a:prstGeom prst="roundRect">
            <a:avLst/>
          </a:prstGeom>
          <a:solidFill>
            <a:srgbClr val="16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74320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＋  Create  (avec / sans)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377440"/>
            <a:ext cx="2651760" cy="2011680"/>
          </a:xfrm>
          <a:prstGeom prst="roundRect">
            <a:avLst/>
          </a:prstGeom>
          <a:solidFill>
            <a:srgbClr val="16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74320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✎  Update  •  ✕  Delete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377440"/>
            <a:ext cx="2651760" cy="2011680"/>
          </a:xfrm>
          <a:prstGeom prst="roundRect">
            <a:avLst/>
          </a:prstGeom>
          <a:solidFill>
            <a:srgbClr val="16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74320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↩  Résilier → RESILIE, end = today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0" y="2377440"/>
            <a:ext cx="2651760" cy="2011680"/>
          </a:xfrm>
          <a:prstGeom prst="roundRect">
            <a:avLst/>
          </a:prstGeom>
          <a:solidFill>
            <a:srgbClr val="16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0" y="274320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📋  List + Active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  <a:latin typeface="Calibri"/>
              </a:defRPr>
            </a:pPr>
            <a:r>
              <a:t>ConsoleMenu: choices 1–5  •  validation DateUtil yyyy-MM-dd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CA3AF"/>
                </a:solidFill>
                <a:latin typeface="Calibri"/>
              </a:defRPr>
            </a:pPr>
            <a:r>
              <a:t>04 / 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7200"/>
            <a:ext cx="12191695" cy="50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57200"/>
            <a:ext cx="4754880" cy="5943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2D3EE"/>
                </a:solidFill>
                <a:latin typeface="Calibri"/>
              </a:defRPr>
            </a:pPr>
            <a:r>
              <a:t>05 — PAIEMENTS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82296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Auto. Pay. Done.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2011680"/>
            <a:ext cx="5577840" cy="1005840"/>
          </a:xfrm>
          <a:prstGeom prst="roundRect">
            <a:avLst/>
          </a:prstGeom>
          <a:solidFill>
            <a:srgbClr val="16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219456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⚙  Échéances auto / month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3200400"/>
            <a:ext cx="5577840" cy="1005840"/>
          </a:xfrm>
          <a:prstGeom prst="roundRect">
            <a:avLst/>
          </a:prstGeom>
          <a:solidFill>
            <a:srgbClr val="16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338328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💳  Pay → PAYE  CARD / CASH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4389120"/>
            <a:ext cx="5577840" cy="1005840"/>
          </a:xfrm>
          <a:prstGeom prst="roundRect">
            <a:avLst/>
          </a:prstGeom>
          <a:solidFill>
            <a:srgbClr val="16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457200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✎  Update • ✕ Delete payment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585216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Paiement: id • échéance • payé le • type • statut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CA3AF"/>
                </a:solidFill>
                <a:latin typeface="Calibri"/>
              </a:defRPr>
            </a:pPr>
            <a:r>
              <a:t>05 / 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7200"/>
            <a:ext cx="12191695" cy="50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D4BF"/>
                </a:solidFill>
                <a:latin typeface="Calibri"/>
              </a:defRPr>
            </a:pPr>
            <a:r>
              <a:t>06 — REPORTS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Know your money.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577840" cy="914400"/>
          </a:xfrm>
          <a:prstGeom prst="roundRect">
            <a:avLst/>
          </a:prstGeom>
          <a:solidFill>
            <a:srgbClr val="16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⚠  Impayés engagement + total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80360"/>
            <a:ext cx="5577840" cy="914400"/>
          </a:xfrm>
          <a:prstGeom prst="roundRect">
            <a:avLst/>
          </a:prstGeom>
          <a:solidFill>
            <a:srgbClr val="16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1752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∑  Total payé / abonnement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931920"/>
            <a:ext cx="5577840" cy="914400"/>
          </a:xfrm>
          <a:prstGeom prst="roundRect">
            <a:avLst/>
          </a:prstGeom>
          <a:solidFill>
            <a:srgbClr val="16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069079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◷  Last 5 payments global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983479"/>
            <a:ext cx="5577840" cy="914400"/>
          </a:xfrm>
          <a:prstGeom prst="roundRect">
            <a:avLst/>
          </a:prstGeom>
          <a:solidFill>
            <a:srgbClr val="16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📊  Monthly • Yearly reports</a:t>
            </a:r>
          </a:p>
        </p:txBody>
      </p:sp>
      <p:pic>
        <p:nvPicPr>
          <p:cNvPr id="14" name="Picture 13" descr="das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457200"/>
            <a:ext cx="4754880" cy="59436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247120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CA3AF"/>
                </a:solidFill>
                <a:latin typeface="Calibri"/>
              </a:defRPr>
            </a:pPr>
            <a:r>
              <a:t>06 / 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7200"/>
            <a:ext cx="12191695" cy="50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BBF24"/>
                </a:solidFill>
                <a:latin typeface="Calibri"/>
              </a:defRPr>
            </a:pPr>
            <a:r>
              <a:t>07 — ARCHI &amp;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Clean Java layers.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1737360" cy="1737360"/>
          </a:xfrm>
          <a:prstGeom prst="roundRect">
            <a:avLst/>
          </a:prstGeom>
          <a:solidFill>
            <a:srgbClr val="16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19" y="1691640"/>
            <a:ext cx="1554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models</a:t>
            </a:r>
            <a:br/>
            <a:r>
              <a:t>Abonnement • Paiement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2011680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2D3EE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1463040"/>
            <a:ext cx="1737360" cy="1737360"/>
          </a:xfrm>
          <a:prstGeom prst="roundRect">
            <a:avLst/>
          </a:prstGeom>
          <a:solidFill>
            <a:srgbClr val="16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1691640"/>
            <a:ext cx="1554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dao</a:t>
            </a:r>
            <a:br/>
            <a:r>
              <a:t>In-memory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2011680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2D3EE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94959" y="1463040"/>
            <a:ext cx="1737360" cy="1737360"/>
          </a:xfrm>
          <a:prstGeom prst="roundRect">
            <a:avLst/>
          </a:prstGeom>
          <a:solidFill>
            <a:srgbClr val="16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399" y="1691640"/>
            <a:ext cx="1554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services</a:t>
            </a:r>
            <a:br/>
            <a:r>
              <a:t>Auto + Reports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79" y="2011680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2D3EE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463040"/>
            <a:ext cx="1737360" cy="1737360"/>
          </a:xfrm>
          <a:prstGeom prst="roundRect">
            <a:avLst/>
          </a:prstGeom>
          <a:solidFill>
            <a:srgbClr val="16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1691640"/>
            <a:ext cx="1554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ui</a:t>
            </a:r>
            <a:br/>
            <a:r>
              <a:t>ConsoleMenu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56616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  <a:latin typeface="Calibri"/>
              </a:defRPr>
            </a:pPr>
            <a:r>
              <a:t>enums: Status • Type  •  util: DateUtil  •  Main → ConsoleMenu.start()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206240"/>
            <a:ext cx="10881360" cy="1737360"/>
          </a:xfrm>
          <a:prstGeom prst="roundRect">
            <a:avLst/>
          </a:prstGeom>
          <a:solidFill>
            <a:srgbClr val="16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3434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2E8F0"/>
                </a:solidFill>
                <a:latin typeface="Calibri"/>
              </a:defRPr>
            </a:pPr>
            <a:r>
              <a:t>▶  DEMO SEED:  Netflix 12.99 (avec, Jan–Jun 2026)  •  Spotify 9.99 (sans, Mar–Aug 2026)  •  1st échéance already PAYE (CARD)       Menu: 1–13 create • pay • reports • 0 exit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CA3AF"/>
                </a:solidFill>
                <a:latin typeface="Calibri"/>
              </a:defRPr>
            </a:pPr>
            <a:r>
              <a:t>07 / 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7200"/>
            <a:ext cx="12191695" cy="50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457200"/>
            <a:ext cx="5120640" cy="5943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9144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D3EE"/>
                </a:solidFill>
                <a:latin typeface="Calibri"/>
              </a:defRPr>
            </a:pPr>
            <a:r>
              <a:t>◆ 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Simple.</a:t>
            </a:r>
            <a:br/>
            <a:r>
              <a:t>Clear.</a:t>
            </a:r>
            <a:br/>
            <a:r>
              <a:t>SubTrack.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D4BF"/>
                </a:solidFill>
                <a:latin typeface="Calibri"/>
              </a:defRPr>
            </a:pPr>
            <a:r>
              <a:t>SubTrack — by Kara Oussama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1148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Calibri"/>
              </a:defRPr>
            </a:pPr>
            <a:r>
              <a:t>Java • OOP • Console •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846320"/>
            <a:ext cx="3657600" cy="731520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B1220"/>
                </a:solidFill>
                <a:latin typeface="Calibri"/>
              </a:defRPr>
            </a:pPr>
            <a:r>
              <a:t>Merci!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CA3AF"/>
                </a:solidFill>
                <a:latin typeface="Calibri"/>
              </a:defRPr>
            </a:pPr>
            <a:r>
              <a:t>08 /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